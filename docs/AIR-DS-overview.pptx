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AIR-DS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187452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design system agents</a:t>
            </a:r>
            <a:endParaRPr lang="en-US" sz="4700" dirty="0"/>
          </a:p>
          <a:p>
            <a:pPr indent="0" marL="0">
              <a:lnSpc>
                <a:spcPts val="5800"/>
              </a:lnSpc>
              <a:buNone/>
            </a:pPr>
            <a:r>
              <a:rPr lang="en-US" sz="4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hallucinate against.</a:t>
            </a:r>
            <a:endParaRPr lang="en-US" sz="47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· AI-ready · built once, re-branded per customer as a single theme file — with the machine layer that makes customer agents productive on day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074920"/>
            <a:ext cx="2478024" cy="310896"/>
          </a:xfrm>
          <a:prstGeom prst="roundRect">
            <a:avLst>
              <a:gd name="adj" fmla="val 17647"/>
            </a:avLst>
          </a:prstGeom>
          <a:solidFill>
            <a:srgbClr val="1E2A44"/>
          </a:solidFill>
          <a:ln w="9525">
            <a:solidFill>
              <a:srgbClr val="3141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5074920"/>
            <a:ext cx="2478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--ds-color-accent-default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91256" y="5074920"/>
            <a:ext cx="1761134" cy="310896"/>
          </a:xfrm>
          <a:prstGeom prst="roundRect">
            <a:avLst>
              <a:gd name="adj" fmla="val 17647"/>
            </a:avLst>
          </a:prstGeom>
          <a:solidFill>
            <a:srgbClr val="1E2A44"/>
          </a:solidFill>
          <a:ln w="9525">
            <a:solidFill>
              <a:srgbClr val="3141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91256" y="5074920"/>
            <a:ext cx="176113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--ds-space-gap-md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116982" y="5074920"/>
            <a:ext cx="1492301" cy="310896"/>
          </a:xfrm>
          <a:prstGeom prst="roundRect">
            <a:avLst>
              <a:gd name="adj" fmla="val 17647"/>
            </a:avLst>
          </a:prstGeom>
          <a:solidFill>
            <a:srgbClr val="1E2A44"/>
          </a:solidFill>
          <a:ln w="9525">
            <a:solidFill>
              <a:srgbClr val="3141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16982" y="5074920"/>
            <a:ext cx="1492301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--ds-radius-md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73875" y="5074920"/>
            <a:ext cx="2119579" cy="310896"/>
          </a:xfrm>
          <a:prstGeom prst="roundRect">
            <a:avLst>
              <a:gd name="adj" fmla="val 17647"/>
            </a:avLst>
          </a:prstGeom>
          <a:solidFill>
            <a:srgbClr val="1E2A44"/>
          </a:solidFill>
          <a:ln w="9525">
            <a:solidFill>
              <a:srgbClr val="3141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73875" y="5074920"/>
            <a:ext cx="21195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DB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components-index.json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“Instruction hopes the model complies.  Structure checks.”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customer now generates UI with agents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517904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17/20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2494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design systems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MCP servers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34640" y="13716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62656" y="1517904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962656" y="22494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agent skills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120640" y="1371600"/>
            <a:ext cx="2103120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248656" y="1517904"/>
            <a:ext cx="1847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14/20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248656" y="2249424"/>
            <a:ext cx="184708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llms.txt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problem. </a:t>
            </a:r>
            <a:pPr indent="0" marL="0">
              <a:buNone/>
            </a:pPr>
            <a:r>
              <a:rPr lang="en-US" sz="13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produce garbage against design systems they cannot read: invented components, fabricated tokens, off-brand drift. The July 2026 “State of AI in Design Systems” field study settled the debate — machine interfaces are table stakes; leaders compete on how well they slice, gate, and validate context.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5303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opportunity. </a:t>
            </a:r>
            <a:pPr indent="0" marL="0">
              <a:buNone/>
            </a:pPr>
            <a:r>
              <a:rPr lang="en-US" sz="13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white-label system that is AI-ready out of the box lets a customer’s teams — and their agents — ship on-brand, accessible, validated UI from week one. And we re-theme the entire stack, including every AI artifact, per customer in minutes, not months.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11091672" cy="1051560"/>
          </a:xfrm>
          <a:prstGeom prst="roundRect">
            <a:avLst>
              <a:gd name="adj" fmla="val 78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512064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rule that shaped everything:  </a:t>
            </a:r>
            <a:pPr indent="0" marL="0">
              <a:buNone/>
            </a:pPr>
            <a:r>
              <a:rPr lang="en-US" sz="14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deterministic structure (types, linters, validators, registries) over prose instructions — and prose over nothing.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layers, one source of truth — everything compiled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580894" cy="2834640"/>
          </a:xfrm>
          <a:prstGeom prst="roundRect">
            <a:avLst>
              <a:gd name="adj" fmla="val 3543"/>
            </a:avLst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691640"/>
            <a:ext cx="2178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Tokens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9808" y="2176272"/>
            <a:ext cx="21785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DTCG source, three tiers.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tier = the only theming surface. WCAG-AA contrast gate fails the build.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7467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385566" y="1508760"/>
            <a:ext cx="2580894" cy="2834640"/>
          </a:xfrm>
          <a:prstGeom prst="roundRect">
            <a:avLst>
              <a:gd name="adj" fmla="val 3543"/>
            </a:avLst>
          </a:prstGeom>
          <a:solidFill>
            <a:srgbClr val="1D4ED8"/>
          </a:solidFill>
          <a:ln/>
        </p:spPr>
      </p:sp>
      <p:sp>
        <p:nvSpPr>
          <p:cNvPr id="9" name="Text 7"/>
          <p:cNvSpPr/>
          <p:nvPr/>
        </p:nvSpPr>
        <p:spPr>
          <a:xfrm>
            <a:off x="3586734" y="1691640"/>
            <a:ext cx="2178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Components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586734" y="2176272"/>
            <a:ext cx="21785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components + 25 icons on React Aria. Typed unions; a11y inside; stories are contract artifacts.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222492" y="1508760"/>
            <a:ext cx="2580894" cy="2834640"/>
          </a:xfrm>
          <a:prstGeom prst="roundRect">
            <a:avLst>
              <a:gd name="adj" fmla="val 3543"/>
            </a:avLst>
          </a:prstGeom>
          <a:solidFill>
            <a:srgbClr val="1E3A8A"/>
          </a:solidFill>
          <a:ln/>
        </p:spPr>
      </p:sp>
      <p:sp>
        <p:nvSpPr>
          <p:cNvPr id="13" name="Text 11"/>
          <p:cNvSpPr/>
          <p:nvPr/>
        </p:nvSpPr>
        <p:spPr>
          <a:xfrm>
            <a:off x="6423660" y="1691640"/>
            <a:ext cx="2178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Machine surface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23660" y="2176272"/>
            <a:ext cx="21785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llms.txt family, markdown twins, 6 skills, 4 editor channels, MCP server, per-customer auditor agent.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48522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059418" y="1508760"/>
            <a:ext cx="2580894" cy="2834640"/>
          </a:xfrm>
          <a:prstGeom prst="roundRect">
            <a:avLst>
              <a:gd name="adj" fmla="val 3543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260586" y="1691640"/>
            <a:ext cx="21785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Enforcement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260586" y="2176272"/>
            <a:ext cx="21785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2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gauntlet + eval suite + browser axe + nightly benchmark. No LLM in the merge path.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1672" cy="566928"/>
          </a:xfrm>
          <a:prstGeom prst="roundRect">
            <a:avLst>
              <a:gd name="adj" fmla="val 1451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709160"/>
            <a:ext cx="105430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 world:  </a:t>
            </a:r>
            <a:pPr indent="0" marL="0">
              <a:buNone/>
            </a:pPr>
            <a:r>
              <a:rPr lang="en-US" sz="13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legal token and component is enumerated in generated registries. Anything not in a registry is provably fabricated — checkable by grep, not judgment.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623560"/>
            <a:ext cx="185074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623560"/>
            <a:ext cx="18507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tokens-index · 232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545690" y="5623560"/>
            <a:ext cx="2119579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5690" y="5623560"/>
            <a:ext cx="21195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components-index · 21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11573" y="5623560"/>
            <a:ext cx="1940357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1573" y="5623560"/>
            <a:ext cx="19403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icons-metadata · 25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898234" y="5623560"/>
            <a:ext cx="1850746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8234" y="5623560"/>
            <a:ext cx="185074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patterns-index · 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895283" y="5623560"/>
            <a:ext cx="2298802" cy="310896"/>
          </a:xfrm>
          <a:prstGeom prst="roundRect">
            <a:avLst>
              <a:gd name="adj" fmla="val 17647"/>
            </a:avLst>
          </a:prstGeom>
          <a:solidFill>
            <a:srgbClr val="EFF6FF"/>
          </a:solidFill>
          <a:ln w="9525">
            <a:solidFill>
              <a:srgbClr val="DBEA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95283" y="5623560"/>
            <a:ext cx="229880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contrast-report · 27 AA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6199632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= one brand token file. Zero component code changes for standard engagements (ADR-006).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WHITE-LABEL, PROVEN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compiled bundle — one theme file apart</a:t>
            </a:r>
            <a:endParaRPr lang="en-US" sz="3300" dirty="0"/>
          </a:p>
        </p:txBody>
      </p:sp>
      <p:pic>
        <p:nvPicPr>
          <p:cNvPr id="4" name="Image 0" descr="/private/tmp/claude-501/-Users-mmcb-Documents-GitHub-AIR-DS/c79d7862-2e5d-46c2-85c5-73d2cb78eea4/scratchpad/brand-defaul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3401568" cy="4023360"/>
          </a:xfrm>
          <a:prstGeom prst="rect">
            <a:avLst/>
          </a:prstGeom>
        </p:spPr>
      </p:pic>
      <p:pic>
        <p:nvPicPr>
          <p:cNvPr id="5" name="Image 1" descr="/private/tmp/claude-501/-Users-mmcb-Documents-GitHub-AIR-DS/c79d7862-2e5d-46c2-85c5-73d2cb78eea4/scratchpad/brand-ac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1463040"/>
            <a:ext cx="3401568" cy="40233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5577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brands/default.json — neutral core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270248" y="557784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brands/acme.json — generated from an intake file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8129016" y="1463040"/>
            <a:ext cx="3511296" cy="1554480"/>
          </a:xfrm>
          <a:prstGeom prst="roundRect">
            <a:avLst>
              <a:gd name="adj" fmla="val 5294"/>
            </a:avLst>
          </a:prstGeom>
          <a:solidFill>
            <a:srgbClr val="E7F9EE"/>
          </a:solidFill>
          <a:ln w="12700">
            <a:solidFill>
              <a:srgbClr val="BFE8D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57032" y="1609344"/>
            <a:ext cx="32552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88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ms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8257032" y="2340864"/>
            <a:ext cx="32552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file → complete branded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system, incl. all 50+ AI artifacts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8129016" y="3200400"/>
            <a:ext cx="35112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pipeline: </a:t>
            </a:r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colors → deterministic OKLCH ramps → WCAG-AA pre-check with auto-repair (a failing palette is fixed and logged, never shipped) → isolated token build → every agent-facing artifact re-emitted with the customer’s values, to their private npm scope.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8129016" y="4892040"/>
            <a:ext cx="3511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agents consume THEIR system — llms.txt, skills, editor rules, MCP answers all reflect the active brand.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UI is unmergeable — not “flagged”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typecheck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23744" y="1572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98064" y="146304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798064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lint · 11 rules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73168" y="1572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047488" y="146304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5047488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22592" y="1572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296912" y="146304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7296912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+ axe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72016" y="157276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4A3B8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546336" y="1463040"/>
            <a:ext cx="1965960" cy="685800"/>
          </a:xfrm>
          <a:prstGeom prst="roundRect">
            <a:avLst>
              <a:gd name="adj" fmla="val 12000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9546336" y="146304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check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23317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— pnpm validate — in our CI and the customer’s. LLMs draft, review, and repair; only deterministic checks approve.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3054096"/>
            <a:ext cx="256032" cy="256032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" y="2926080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Closed-world linting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1115568" y="3209544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var(--ds-*) and import checked against the registries; fabrication is a build failure with a named fix.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548640" y="3867912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950208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115568" y="3822192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negative-rule catalog that compiles</a:t>
            </a:r>
            <a:endParaRPr lang="en-US" sz="1450" dirty="0"/>
          </a:p>
        </p:txBody>
      </p:sp>
      <p:sp>
        <p:nvSpPr>
          <p:cNvPr id="26" name="Text 22"/>
          <p:cNvSpPr/>
          <p:nvPr/>
        </p:nvSpPr>
        <p:spPr>
          <a:xfrm>
            <a:off x="1115568" y="4105656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observed hallucination classes (NR-001…013), each a wrong→right pair shipped into skills, editor rules, and MCP messages.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548640" y="4764024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4846320"/>
            <a:ext cx="256032" cy="25603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1115568" y="4718304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as regression tests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1115568" y="5001768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has a wrong/right pair executed in CI: 21/21 passing, critical gates at a required 1.0.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48640" y="5660136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5742432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115568" y="5614416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Browser-verified accessibility</a:t>
            </a:r>
            <a:endParaRPr lang="en-US" sz="1450" dirty="0"/>
          </a:p>
        </p:txBody>
      </p:sp>
      <p:sp>
        <p:nvSpPr>
          <p:cNvPr id="34" name="Text 28"/>
          <p:cNvSpPr/>
          <p:nvPr/>
        </p:nvSpPr>
        <p:spPr>
          <a:xfrm>
            <a:off x="1115568" y="5897880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Storybook stories swept by axe in real Chromium: zero violations at any impact level. Contrast is gated at token-build time (27 AA pairs).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acceptance tests, run for real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4344" cy="4663440"/>
          </a:xfrm>
          <a:prstGeom prst="roundRect">
            <a:avLst>
              <a:gd name="adj" fmla="val 2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blind consumer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agent locked to the compiled artifacts only — no source access — built a full settings screen.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77240" y="365760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777240" y="45720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tokens or components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(validator-verified, 12 components, 16 tokens used)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463040"/>
            <a:ext cx="3514344" cy="4663440"/>
          </a:xfrm>
          <a:prstGeom prst="roundRect">
            <a:avLst>
              <a:gd name="adj" fmla="val 2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5904" y="1691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MCP client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65904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stdio JSON-RPC session against the shipped server: closed-world errors, all 13 negative rules firing with fixes, theme-swap invariant across brands.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65904" y="365760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4565904" y="45720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functional expectation met;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malformed input without a crash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25968" y="1463040"/>
            <a:ext cx="3514344" cy="4663440"/>
          </a:xfrm>
          <a:prstGeom prst="roundRect">
            <a:avLst>
              <a:gd name="adj" fmla="val 260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54568" y="1691640"/>
            <a:ext cx="3057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outside contributor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54568" y="2103120"/>
            <a:ext cx="305714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with only the contribution checklist built a 15th component in a clean clone.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54568" y="3657600"/>
            <a:ext cx="305714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try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8354568" y="4572000"/>
            <a:ext cx="305714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gauntlet-green — and its friction list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became three new shipped rules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DEMOABLE ANYWHERE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credentials to run. Clients bring their own keys.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640080"/>
          </a:xfrm>
          <a:prstGeom prst="roundRect">
            <a:avLst>
              <a:gd name="adj" fmla="val 12857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6304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bash scripts/demo.sh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command, ~30 s warm, fully offline: build → gauntlet → evals → benchmark (committed fixture replay) → ingest the sample customer → metrics report.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3282696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15568" y="315468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runs locally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115568" y="3438144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compilers, fixture-replay benchmark, local-Chromium axe, pnpm-pack release artifacts. No accounts, no network services.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416052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4242816"/>
            <a:ext cx="256032" cy="2560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15568" y="4114800"/>
            <a:ext cx="5742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with zero setup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1115568" y="4398264"/>
            <a:ext cx="5742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repo in Claude Code and the design-system server is already wired (.mcp.json).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315200" y="1463040"/>
            <a:ext cx="4325112" cy="3931920"/>
          </a:xfrm>
          <a:prstGeom prst="roundRect">
            <a:avLst>
              <a:gd name="adj" fmla="val 2326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7589520" y="1691640"/>
            <a:ext cx="3776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plug-points (theirs, by design)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589520" y="2148840"/>
            <a:ext cx="377647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benchmark generator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agent CLI + API keys, via one config flag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publishing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documented, disabled workflow step gated on their NPM_TOKEN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design-to-code skill works from any input; the Figma adapter is documented and waits for their credentials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recorded in the repo: nothing in the product requires credentials to build, validate, or demo.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BUILD ITSELF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 agent team — with its own medicine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176272" y="1554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2316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8" name="Text 6"/>
          <p:cNvSpPr/>
          <p:nvPr/>
        </p:nvSpPr>
        <p:spPr>
          <a:xfrm>
            <a:off x="242316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audit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050792" y="1554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9768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429768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pattern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25312" y="1554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799832" y="1554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74352" y="1554480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921240" y="1463040"/>
            <a:ext cx="1645920" cy="658368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146304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→ rules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237744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pre-fan-out audit caught 10 pattern defects in the exemplar — including dead theming hooks and an illegible disabled state — before they could be copied 13×. Every later friction finding became a named negative rule, then a deterministic check. That promotion loop ran five times across the build.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3520440"/>
            <a:ext cx="256717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666744"/>
            <a:ext cx="23111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676656" y="4398264"/>
            <a:ext cx="23111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engagements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five waves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90138" y="3520440"/>
            <a:ext cx="256717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8154" y="3666744"/>
            <a:ext cx="23111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13/13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3518154" y="4398264"/>
            <a:ext cx="23111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fan-out agents passed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gates first try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31636" y="3520440"/>
            <a:ext cx="256717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9652" y="3666744"/>
            <a:ext cx="23111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359652" y="4398264"/>
            <a:ext cx="23111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fabricated tokens across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build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73134" y="3520440"/>
            <a:ext cx="256717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1150" y="3666744"/>
            <a:ext cx="231114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33" name="Text 31"/>
          <p:cNvSpPr/>
          <p:nvPr/>
        </p:nvSpPr>
        <p:spPr>
          <a:xfrm>
            <a:off x="9201150" y="4398264"/>
            <a:ext cx="23111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phase-gated commits,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phases 0–4 complete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48640" y="534924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gates stayed intact: architecture decisions, frozen scope, and every phase commit were the lead’s calls — agents drafted, audited, and repaired; the gauntlet approved.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EA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system, measured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288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662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788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across six packages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2544" y="1600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35424" y="18288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35424" y="2788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tokens · 131 themable hooks, zero dead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60020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82880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/ 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39328" y="278892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swept by browser axe / violations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97764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731520" y="4937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evals passing · critical at 1.0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2544" y="37490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5424" y="397764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35424" y="4937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gauntlet steps green, no LLM in the gate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749040"/>
            <a:ext cx="3483864" cy="1874520"/>
          </a:xfrm>
          <a:prstGeom prst="roundRect">
            <a:avLst>
              <a:gd name="adj" fmla="val 4878"/>
            </a:avLst>
          </a:prstGeom>
          <a:solidFill>
            <a:srgbClr val="1B2740"/>
          </a:solidFill>
          <a:ln w="12700">
            <a:solidFill>
              <a:srgbClr val="2C3C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39328" y="3977640"/>
            <a:ext cx="31181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6FD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 ms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339328" y="4937760"/>
            <a:ext cx="3118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customer re-theme, AI artifacts included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" y="603504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EE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rate across every acceptance test and the build itself:  zero.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edges, and the road from here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20624" cy="420624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63677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15568" y="1508760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library + Code Connect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1115568" y="1792224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brief’s named differentiator — needs design tooling and a seat. The token pipeline is variables-ready and the design-to-code skill already ships the Figma-agnostic spec-extraction half.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578608"/>
            <a:ext cx="420624" cy="420624"/>
          </a:xfrm>
          <a:prstGeom prst="ellipse">
            <a:avLst/>
          </a:prstGeom>
          <a:solidFill>
            <a:srgbClr val="1D4ED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2660904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15568" y="2532888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customers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1115568" y="2816352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field gate: 1–2 friendly customers whose agents pass the gauntlet first-try ≥80%. Acme proves the mechanics; pilots prove the market.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548640" y="3602736"/>
            <a:ext cx="420624" cy="420624"/>
          </a:xfrm>
          <a:prstGeom prst="ellipse">
            <a:avLst/>
          </a:prstGeom>
          <a:solidFill>
            <a:srgbClr val="1E3A8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3685032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15568" y="3557016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v1.1 backlog, already scoped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1115568" y="3840480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Fourteen tracked findings from the audits and acceptance tests (thin-dimension tokens, play-function execution, hook-request flow…) — each with an owner area, most one sprint of work.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4626864"/>
            <a:ext cx="420624" cy="420624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4709160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15568" y="4581144"/>
            <a:ext cx="10524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wiring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115568" y="4864608"/>
            <a:ext cx="1052474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npm scope, their benchmark LLM, their Figma credentials, their crawl-ability decision per engagement — all pluggable, none blocking a demo.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548640" y="5806440"/>
            <a:ext cx="11091672" cy="658368"/>
          </a:xfrm>
          <a:prstGeom prst="roundRect">
            <a:avLst>
              <a:gd name="adj" fmla="val 12500"/>
            </a:avLst>
          </a:prstGeom>
          <a:solidFill>
            <a:srgbClr val="0F172A"/>
          </a:solidFill>
          <a:ln/>
        </p:spPr>
      </p:sp>
      <p:sp>
        <p:nvSpPr>
          <p:cNvPr id="21" name="Text 15"/>
          <p:cNvSpPr/>
          <p:nvPr/>
        </p:nvSpPr>
        <p:spPr>
          <a:xfrm>
            <a:off x="822960" y="5806440"/>
            <a:ext cx="10543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yourself:   </a:t>
            </a:r>
            <a:pPr indent="0" marL="0">
              <a:buNone/>
            </a:pPr>
            <a:r>
              <a:rPr lang="en-US" sz="1400" dirty="0">
                <a:solidFill>
                  <a:srgbClr val="7EE0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bash scripts/demo.sh</a:t>
            </a:r>
            <a:pPr indent="0" marL="0">
              <a:buNone/>
            </a:pPr>
            <a:r>
              <a:rPr lang="en-US" sz="1400" dirty="0">
                <a:solidFill>
                  <a:srgbClr val="9D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docs/architecture.md   ·   examples/brand-demo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2026-08-19T15:09:42Z</dcterms:created>
  <dcterms:modified xsi:type="dcterms:W3CDTF">2026-08-19T15:09:42Z</dcterms:modified>
</cp:coreProperties>
</file>